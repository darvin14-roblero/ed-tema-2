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1" r:id="rId2"/>
    <p:sldId id="2562" r:id="rId3"/>
    <p:sldId id="2563" r:id="rId4"/>
    <p:sldId id="2583" r:id="rId5"/>
    <p:sldId id="2565" r:id="rId6"/>
    <p:sldId id="2590" r:id="rId7"/>
    <p:sldId id="2591" r:id="rId8"/>
    <p:sldId id="2576" r:id="rId9"/>
    <p:sldId id="2589" r:id="rId1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gramación orientada a objetos: Principios y aplicaciones" id="{2690BB67-E966-44FA-B574-1E4288782F99}">
          <p14:sldIdLst>
            <p14:sldId id="2561"/>
            <p14:sldId id="2562"/>
          </p14:sldIdLst>
        </p14:section>
        <p14:section name="Fundamentos de la programación orientada a objetos" id="{CFB46A74-3852-4840-9BAE-45AC099C1EA0}">
          <p14:sldIdLst>
            <p14:sldId id="2563"/>
            <p14:sldId id="2583"/>
            <p14:sldId id="2565"/>
            <p14:sldId id="2590"/>
            <p14:sldId id="2591"/>
          </p14:sldIdLst>
        </p14:section>
        <p14:section name="Conclusión" id="{9670A1F2-1E7E-413C-9EDF-4A41C2726A6B}">
          <p14:sldIdLst>
            <p14:sldId id="2576"/>
            <p14:sldId id="25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9DC7C-0AE2-4E55-B7E4-3BD8DA93C5E9}" type="datetimeFigureOut">
              <a:rPr lang="es-MX" smtClean="0"/>
              <a:t>26/11/2025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CCBF03-CF91-4B92-84FC-488834E8FEF5}" type="slidenum">
              <a:rPr lang="es-MX" smtClean="0"/>
              <a:t>‹Nº›</a:t>
            </a:fld>
            <a:endParaRPr lang="es-MX"/>
          </a:p>
        </p:txBody>
      </p:sp>
    </p:spTree>
    <p:extLst>
      <p:ext uri="{BB962C8B-B14F-4D97-AF65-F5344CB8AC3E}">
        <p14:creationId xmlns:p14="http://schemas.microsoft.com/office/powerpoint/2010/main" val="2079989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r>
              <a:rPr lang="es-MX"/>
              <a:t>El contenido generado por inteligencia artificial puede ser incorrecto.
---
La programación orientada a objetos (POO) es un paradigma que utiliza 'objetos' para representar datos y métodos. A lo largo de esta presentación, exploraremos sus fundamentos, principios de diseño, lenguajes comunes y sus aplicaciones en la industria.
</a:t>
            </a:r>
          </a:p>
        </p:txBody>
      </p:sp>
      <p:sp>
        <p:nvSpPr>
          <p:cNvPr id="4" name="Marcador de número de diapositiva 3"/>
          <p:cNvSpPr>
            <a:spLocks noGrp="1"/>
          </p:cNvSpPr>
          <p:nvPr>
            <p:ph type="sldNum" sz="quarter" idx="5"/>
          </p:nvPr>
        </p:nvSpPr>
        <p:spPr/>
        <p:txBody>
          <a:bodyPr/>
          <a:lstStyle/>
          <a:p>
            <a:fld id="{BACE588D-C919-4E98-B890-E17B0AC4619B}" type="slidenum">
              <a:rPr lang="es-MX" smtClean="0"/>
              <a:t>1</a:t>
            </a:fld>
            <a:endParaRPr lang="es-MX"/>
          </a:p>
        </p:txBody>
      </p:sp>
    </p:spTree>
    <p:extLst>
      <p:ext uri="{BB962C8B-B14F-4D97-AF65-F5344CB8AC3E}">
        <p14:creationId xmlns:p14="http://schemas.microsoft.com/office/powerpoint/2010/main" val="2512212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r>
              <a:rPr lang="es-MX"/>
              <a:t>Comenzaremos con los fundamentos de la programación orientada a objetos, incluyendo conceptos clave como objetos y clases, así como los principios básicos que la rigen. Luego, analizaremos los principios de diseño, características de lenguajes populares, aplicaciones en diversos sectores y finalmente, los desafíos y tendencias actuales en POO.</a:t>
            </a:r>
          </a:p>
        </p:txBody>
      </p:sp>
      <p:sp>
        <p:nvSpPr>
          <p:cNvPr id="4" name="Marcador de número de diapositiva 3"/>
          <p:cNvSpPr>
            <a:spLocks noGrp="1"/>
          </p:cNvSpPr>
          <p:nvPr>
            <p:ph type="sldNum" sz="quarter" idx="5"/>
          </p:nvPr>
        </p:nvSpPr>
        <p:spPr/>
        <p:txBody>
          <a:bodyPr/>
          <a:lstStyle/>
          <a:p>
            <a:fld id="{BACE588D-C919-4E98-B890-E17B0AC4619B}" type="slidenum">
              <a:rPr lang="es-MX" smtClean="0"/>
              <a:t>2</a:t>
            </a:fld>
            <a:endParaRPr lang="es-MX"/>
          </a:p>
        </p:txBody>
      </p:sp>
    </p:spTree>
    <p:extLst>
      <p:ext uri="{BB962C8B-B14F-4D97-AF65-F5344CB8AC3E}">
        <p14:creationId xmlns:p14="http://schemas.microsoft.com/office/powerpoint/2010/main" val="932094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r>
              <a:rPr lang="es-MX"/>
              <a:t>La programación orientada a objetos se basa en la creación de objetos que contienen atributos y métodos. Este enfoque facilita la modularidad y reutilización del código, lo que mejora la organización y mantenimiento del software.</a:t>
            </a:r>
          </a:p>
        </p:txBody>
      </p:sp>
      <p:sp>
        <p:nvSpPr>
          <p:cNvPr id="4" name="Marcador de número de diapositiva 3"/>
          <p:cNvSpPr>
            <a:spLocks noGrp="1"/>
          </p:cNvSpPr>
          <p:nvPr>
            <p:ph type="sldNum" sz="quarter" idx="5"/>
          </p:nvPr>
        </p:nvSpPr>
        <p:spPr/>
        <p:txBody>
          <a:bodyPr/>
          <a:lstStyle/>
          <a:p>
            <a:fld id="{BACE588D-C919-4E98-B890-E17B0AC4619B}" type="slidenum">
              <a:rPr lang="es-MX" smtClean="0"/>
              <a:t>3</a:t>
            </a:fld>
            <a:endParaRPr lang="es-MX"/>
          </a:p>
        </p:txBody>
      </p:sp>
    </p:spTree>
    <p:extLst>
      <p:ext uri="{BB962C8B-B14F-4D97-AF65-F5344CB8AC3E}">
        <p14:creationId xmlns:p14="http://schemas.microsoft.com/office/powerpoint/2010/main" val="84618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E14B-3946-B1CF-4E42-817BDAF64DB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614AB2-9933-F30F-0486-0F45EFFFF164}"/>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29397B64-3D43-87F7-D63C-286D280485D7}"/>
              </a:ext>
            </a:extLst>
          </p:cNvPr>
          <p:cNvSpPr>
            <a:spLocks noGrp="1"/>
          </p:cNvSpPr>
          <p:nvPr>
            <p:ph type="body" idx="1"/>
          </p:nvPr>
        </p:nvSpPr>
        <p:spPr/>
        <p:txBody>
          <a:bodyPr/>
          <a:lstStyle/>
          <a:p>
            <a:r>
              <a:rPr lang="es-MX"/>
              <a:t>La programación orientada a objetos se basa en la creación de objetos que contienen atributos y métodos. Este enfoque facilita la modularidad y reutilización del código, lo que mejora la organización y mantenimiento del software.</a:t>
            </a:r>
          </a:p>
        </p:txBody>
      </p:sp>
      <p:sp>
        <p:nvSpPr>
          <p:cNvPr id="4" name="Marcador de número de diapositiva 3">
            <a:extLst>
              <a:ext uri="{FF2B5EF4-FFF2-40B4-BE49-F238E27FC236}">
                <a16:creationId xmlns:a16="http://schemas.microsoft.com/office/drawing/2014/main" id="{45E4484C-4EDC-E741-6C36-7715047D881C}"/>
              </a:ext>
            </a:extLst>
          </p:cNvPr>
          <p:cNvSpPr>
            <a:spLocks noGrp="1"/>
          </p:cNvSpPr>
          <p:nvPr>
            <p:ph type="sldNum" sz="quarter" idx="5"/>
          </p:nvPr>
        </p:nvSpPr>
        <p:spPr/>
        <p:txBody>
          <a:bodyPr/>
          <a:lstStyle/>
          <a:p>
            <a:fld id="{BACE588D-C919-4E98-B890-E17B0AC4619B}" type="slidenum">
              <a:rPr lang="es-MX" smtClean="0"/>
              <a:t>4</a:t>
            </a:fld>
            <a:endParaRPr lang="es-MX"/>
          </a:p>
        </p:txBody>
      </p:sp>
    </p:spTree>
    <p:extLst>
      <p:ext uri="{BB962C8B-B14F-4D97-AF65-F5344CB8AC3E}">
        <p14:creationId xmlns:p14="http://schemas.microsoft.com/office/powerpoint/2010/main" val="23748807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r>
              <a:rPr lang="es-MX"/>
              <a:t>La encapsulación oculta los detalles internos del objeto, la herencia permite que una clase derive atributos y métodos de otra, y el polimorfismo permite que un objeto se comporte de diferentes maneras según su contexto. Estos principios son fundamentales para la POO.</a:t>
            </a:r>
          </a:p>
        </p:txBody>
      </p:sp>
      <p:sp>
        <p:nvSpPr>
          <p:cNvPr id="4" name="Marcador de número de diapositiva 3"/>
          <p:cNvSpPr>
            <a:spLocks noGrp="1"/>
          </p:cNvSpPr>
          <p:nvPr>
            <p:ph type="sldNum" sz="quarter" idx="5"/>
          </p:nvPr>
        </p:nvSpPr>
        <p:spPr/>
        <p:txBody>
          <a:bodyPr/>
          <a:lstStyle/>
          <a:p>
            <a:fld id="{BACE588D-C919-4E98-B890-E17B0AC4619B}" type="slidenum">
              <a:rPr lang="es-MX" smtClean="0"/>
              <a:t>5</a:t>
            </a:fld>
            <a:endParaRPr lang="es-MX"/>
          </a:p>
        </p:txBody>
      </p:sp>
    </p:spTree>
    <p:extLst>
      <p:ext uri="{BB962C8B-B14F-4D97-AF65-F5344CB8AC3E}">
        <p14:creationId xmlns:p14="http://schemas.microsoft.com/office/powerpoint/2010/main" val="1734456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8383F-3D0E-F186-82D6-8E9A44CD9D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EEACDCE-3477-27EA-51A3-42012958A9E8}"/>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8C4EB311-84DD-ECA1-3F12-884862416C72}"/>
              </a:ext>
            </a:extLst>
          </p:cNvPr>
          <p:cNvSpPr>
            <a:spLocks noGrp="1"/>
          </p:cNvSpPr>
          <p:nvPr>
            <p:ph type="body" idx="1"/>
          </p:nvPr>
        </p:nvSpPr>
        <p:spPr/>
        <p:txBody>
          <a:bodyPr/>
          <a:lstStyle/>
          <a:p>
            <a:r>
              <a:rPr lang="es-MX"/>
              <a:t>La encapsulación oculta los detalles internos del objeto, la herencia permite que una clase derive atributos y métodos de otra, y el polimorfismo permite que un objeto se comporte de diferentes maneras según su contexto. Estos principios son fundamentales para la POO.</a:t>
            </a:r>
          </a:p>
        </p:txBody>
      </p:sp>
      <p:sp>
        <p:nvSpPr>
          <p:cNvPr id="4" name="Marcador de número de diapositiva 3">
            <a:extLst>
              <a:ext uri="{FF2B5EF4-FFF2-40B4-BE49-F238E27FC236}">
                <a16:creationId xmlns:a16="http://schemas.microsoft.com/office/drawing/2014/main" id="{D0BDFF7F-01D4-3A44-99CC-68C27FDEF895}"/>
              </a:ext>
            </a:extLst>
          </p:cNvPr>
          <p:cNvSpPr>
            <a:spLocks noGrp="1"/>
          </p:cNvSpPr>
          <p:nvPr>
            <p:ph type="sldNum" sz="quarter" idx="5"/>
          </p:nvPr>
        </p:nvSpPr>
        <p:spPr/>
        <p:txBody>
          <a:bodyPr/>
          <a:lstStyle/>
          <a:p>
            <a:fld id="{BACE588D-C919-4E98-B890-E17B0AC4619B}" type="slidenum">
              <a:rPr lang="es-MX" smtClean="0"/>
              <a:t>6</a:t>
            </a:fld>
            <a:endParaRPr lang="es-MX"/>
          </a:p>
        </p:txBody>
      </p:sp>
    </p:spTree>
    <p:extLst>
      <p:ext uri="{BB962C8B-B14F-4D97-AF65-F5344CB8AC3E}">
        <p14:creationId xmlns:p14="http://schemas.microsoft.com/office/powerpoint/2010/main" val="3847544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B1097-F1D9-22EB-142B-1BF0BECA483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1202C25-F105-62DB-D405-257BF7C14998}"/>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FE392BD8-D8F8-72F9-F05C-F1A87814CD68}"/>
              </a:ext>
            </a:extLst>
          </p:cNvPr>
          <p:cNvSpPr>
            <a:spLocks noGrp="1"/>
          </p:cNvSpPr>
          <p:nvPr>
            <p:ph type="body" idx="1"/>
          </p:nvPr>
        </p:nvSpPr>
        <p:spPr/>
        <p:txBody>
          <a:bodyPr/>
          <a:lstStyle/>
          <a:p>
            <a:r>
              <a:rPr lang="es-MX"/>
              <a:t>La encapsulación oculta los detalles internos del objeto, la herencia permite que una clase derive atributos y métodos de otra, y el polimorfismo permite que un objeto se comporte de diferentes maneras según su contexto. Estos principios son fundamentales para la POO.</a:t>
            </a:r>
          </a:p>
        </p:txBody>
      </p:sp>
      <p:sp>
        <p:nvSpPr>
          <p:cNvPr id="4" name="Marcador de número de diapositiva 3">
            <a:extLst>
              <a:ext uri="{FF2B5EF4-FFF2-40B4-BE49-F238E27FC236}">
                <a16:creationId xmlns:a16="http://schemas.microsoft.com/office/drawing/2014/main" id="{16A662B4-0A1A-B750-E278-EAB857DCEDFD}"/>
              </a:ext>
            </a:extLst>
          </p:cNvPr>
          <p:cNvSpPr>
            <a:spLocks noGrp="1"/>
          </p:cNvSpPr>
          <p:nvPr>
            <p:ph type="sldNum" sz="quarter" idx="5"/>
          </p:nvPr>
        </p:nvSpPr>
        <p:spPr/>
        <p:txBody>
          <a:bodyPr/>
          <a:lstStyle/>
          <a:p>
            <a:fld id="{BACE588D-C919-4E98-B890-E17B0AC4619B}" type="slidenum">
              <a:rPr lang="es-MX" smtClean="0"/>
              <a:t>7</a:t>
            </a:fld>
            <a:endParaRPr lang="es-MX"/>
          </a:p>
        </p:txBody>
      </p:sp>
    </p:spTree>
    <p:extLst>
      <p:ext uri="{BB962C8B-B14F-4D97-AF65-F5344CB8AC3E}">
        <p14:creationId xmlns:p14="http://schemas.microsoft.com/office/powerpoint/2010/main" val="17606530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MX"/>
          </a:p>
        </p:txBody>
      </p:sp>
      <p:sp>
        <p:nvSpPr>
          <p:cNvPr id="3" name="Marcador de notas 2"/>
          <p:cNvSpPr>
            <a:spLocks noGrp="1"/>
          </p:cNvSpPr>
          <p:nvPr>
            <p:ph type="body" idx="1"/>
          </p:nvPr>
        </p:nvSpPr>
        <p:spPr/>
        <p:txBody>
          <a:bodyPr/>
          <a:lstStyle/>
          <a:p>
            <a:r>
              <a:rPr lang="es-MX"/>
              <a:t>La programación orientada a objetos se utiliza ampliamente en el desarrollo de videojuegos, donde los objetos representan entidades del juego. Esto permite una gestión eficiente de la lógica del juego y la interacción entre personajes y escenarios.</a:t>
            </a:r>
          </a:p>
        </p:txBody>
      </p:sp>
      <p:sp>
        <p:nvSpPr>
          <p:cNvPr id="4" name="Marcador de número de diapositiva 3"/>
          <p:cNvSpPr>
            <a:spLocks noGrp="1"/>
          </p:cNvSpPr>
          <p:nvPr>
            <p:ph type="sldNum" sz="quarter" idx="5"/>
          </p:nvPr>
        </p:nvSpPr>
        <p:spPr/>
        <p:txBody>
          <a:bodyPr/>
          <a:lstStyle/>
          <a:p>
            <a:fld id="{BACE588D-C919-4E98-B890-E17B0AC4619B}" type="slidenum">
              <a:rPr lang="es-MX" smtClean="0"/>
              <a:t>8</a:t>
            </a:fld>
            <a:endParaRPr lang="es-MX"/>
          </a:p>
        </p:txBody>
      </p:sp>
    </p:spTree>
    <p:extLst>
      <p:ext uri="{BB962C8B-B14F-4D97-AF65-F5344CB8AC3E}">
        <p14:creationId xmlns:p14="http://schemas.microsoft.com/office/powerpoint/2010/main" val="2984736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440D9-8183-363B-C0C7-ADFD2BE5DA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6418EAD-0CE6-3997-F5DA-983FABABA283}"/>
              </a:ext>
            </a:extLst>
          </p:cNvPr>
          <p:cNvSpPr>
            <a:spLocks noGrp="1" noRot="1" noChangeAspect="1"/>
          </p:cNvSpPr>
          <p:nvPr>
            <p:ph type="sldImg"/>
          </p:nvPr>
        </p:nvSpPr>
        <p:spPr/>
        <p:txBody>
          <a:bodyPr/>
          <a:lstStyle/>
          <a:p>
            <a:endParaRPr lang="es-MX"/>
          </a:p>
        </p:txBody>
      </p:sp>
      <p:sp>
        <p:nvSpPr>
          <p:cNvPr id="3" name="Marcador de notas 2">
            <a:extLst>
              <a:ext uri="{FF2B5EF4-FFF2-40B4-BE49-F238E27FC236}">
                <a16:creationId xmlns:a16="http://schemas.microsoft.com/office/drawing/2014/main" id="{1FB23761-DF0C-8251-6B0B-1938A80583C4}"/>
              </a:ext>
            </a:extLst>
          </p:cNvPr>
          <p:cNvSpPr>
            <a:spLocks noGrp="1"/>
          </p:cNvSpPr>
          <p:nvPr>
            <p:ph type="body" idx="1"/>
          </p:nvPr>
        </p:nvSpPr>
        <p:spPr/>
        <p:txBody>
          <a:bodyPr/>
          <a:lstStyle/>
          <a:p>
            <a:r>
              <a:rPr lang="es-MX"/>
              <a:t>La programación orientada a objetos se utiliza ampliamente en el desarrollo de videojuegos, donde los objetos representan entidades del juego. Esto permite una gestión eficiente de la lógica del juego y la interacción entre personajes y escenarios.</a:t>
            </a:r>
          </a:p>
        </p:txBody>
      </p:sp>
      <p:sp>
        <p:nvSpPr>
          <p:cNvPr id="4" name="Marcador de número de diapositiva 3">
            <a:extLst>
              <a:ext uri="{FF2B5EF4-FFF2-40B4-BE49-F238E27FC236}">
                <a16:creationId xmlns:a16="http://schemas.microsoft.com/office/drawing/2014/main" id="{AD5DD250-E6DA-A2F7-C28D-74705128F16E}"/>
              </a:ext>
            </a:extLst>
          </p:cNvPr>
          <p:cNvSpPr>
            <a:spLocks noGrp="1"/>
          </p:cNvSpPr>
          <p:nvPr>
            <p:ph type="sldNum" sz="quarter" idx="5"/>
          </p:nvPr>
        </p:nvSpPr>
        <p:spPr/>
        <p:txBody>
          <a:bodyPr/>
          <a:lstStyle/>
          <a:p>
            <a:fld id="{BACE588D-C919-4E98-B890-E17B0AC4619B}" type="slidenum">
              <a:rPr lang="es-MX" smtClean="0"/>
              <a:t>9</a:t>
            </a:fld>
            <a:endParaRPr lang="es-MX"/>
          </a:p>
        </p:txBody>
      </p:sp>
    </p:spTree>
    <p:extLst>
      <p:ext uri="{BB962C8B-B14F-4D97-AF65-F5344CB8AC3E}">
        <p14:creationId xmlns:p14="http://schemas.microsoft.com/office/powerpoint/2010/main" val="4115579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11/26/2025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990866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11/26/2025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436969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11/26/2025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846704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11/26/2025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290855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11/26/2025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250990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11/26/2025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698149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11/26/2025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515629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11/26/2025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82358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11/26/2025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214574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11/26/2025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3590226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11/26/2025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‹Nº›</a:t>
            </a:fld>
            <a:endParaRPr lang="en-US"/>
          </a:p>
        </p:txBody>
      </p:sp>
    </p:spTree>
    <p:extLst>
      <p:ext uri="{BB962C8B-B14F-4D97-AF65-F5344CB8AC3E}">
        <p14:creationId xmlns:p14="http://schemas.microsoft.com/office/powerpoint/2010/main" val="1617993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11/26/2025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‹Nº›</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94194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Imagen 3" descr="Código de ADN en una gran pantalla LED">
            <a:extLst>
              <a:ext uri="{FF2B5EF4-FFF2-40B4-BE49-F238E27FC236}">
                <a16:creationId xmlns:a16="http://schemas.microsoft.com/office/drawing/2014/main" id="{B962A1D9-6A96-467C-AE97-1736C47E05C9}"/>
              </a:ext>
            </a:extLst>
          </p:cNvPr>
          <p:cNvPicPr>
            <a:picLocks noChangeAspect="1"/>
          </p:cNvPicPr>
          <p:nvPr/>
        </p:nvPicPr>
        <p:blipFill>
          <a:blip r:embed="rId3"/>
          <a:srcRect l="1774" t="2853" r="-1" b="14371"/>
          <a:stretch/>
        </p:blipFill>
        <p:spPr>
          <a:xfrm>
            <a:off x="20" y="10"/>
            <a:ext cx="12191979" cy="6857990"/>
          </a:xfrm>
          <a:prstGeom prst="rect">
            <a:avLst/>
          </a:prstGeom>
        </p:spPr>
      </p:pic>
      <p:sp>
        <p:nvSpPr>
          <p:cNvPr id="13" name="Rectangle 12">
            <a:extLst>
              <a:ext uri="{FF2B5EF4-FFF2-40B4-BE49-F238E27FC236}">
                <a16:creationId xmlns:a16="http://schemas.microsoft.com/office/drawing/2014/main" id="{EFBAAD93-7DE6-47D1-3609-446AE138A2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a:extLst>
              <a:ext uri="{FF2B5EF4-FFF2-40B4-BE49-F238E27FC236}">
                <a16:creationId xmlns:a16="http://schemas.microsoft.com/office/drawing/2014/main" id="{526EC4F8-2691-BAD7-DE77-43579875551D}"/>
              </a:ext>
            </a:extLst>
          </p:cNvPr>
          <p:cNvSpPr>
            <a:spLocks noGrp="1"/>
          </p:cNvSpPr>
          <p:nvPr>
            <p:ph type="ctrTitle"/>
          </p:nvPr>
        </p:nvSpPr>
        <p:spPr>
          <a:xfrm>
            <a:off x="6977743" y="2345565"/>
            <a:ext cx="5214257" cy="4171779"/>
          </a:xfrm>
        </p:spPr>
        <p:txBody>
          <a:bodyPr anchor="t">
            <a:normAutofit/>
          </a:bodyPr>
          <a:lstStyle/>
          <a:p>
            <a:pPr algn="ctr">
              <a:lnSpc>
                <a:spcPct val="90000"/>
              </a:lnSpc>
            </a:pPr>
            <a:r>
              <a:rPr lang="es-MX" sz="4600" b="1" dirty="0">
                <a:latin typeface="Arial" panose="020B0604020202020204" pitchFamily="34" charset="0"/>
                <a:cs typeface="Arial" panose="020B0604020202020204" pitchFamily="34" charset="0"/>
              </a:rPr>
              <a:t>ESTRUCTURA DE DATOS</a:t>
            </a:r>
          </a:p>
        </p:txBody>
      </p:sp>
      <p:cxnSp>
        <p:nvCxnSpPr>
          <p:cNvPr id="15" name="Straight Connector 14">
            <a:extLst>
              <a:ext uri="{FF2B5EF4-FFF2-40B4-BE49-F238E27FC236}">
                <a16:creationId xmlns:a16="http://schemas.microsoft.com/office/drawing/2014/main" id="{90236859-7780-1451-40B8-74A77E2715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62326" y="727509"/>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594506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658368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BA3C59D-8641-484F-A35C-361AD7E155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4768"/>
            <a:ext cx="65836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Marcador de contenido 4" descr="Script de computadora en una pantalla">
            <a:extLst>
              <a:ext uri="{FF2B5EF4-FFF2-40B4-BE49-F238E27FC236}">
                <a16:creationId xmlns:a16="http://schemas.microsoft.com/office/drawing/2014/main" id="{8A84E368-CB7B-420A-B743-3B968FE3422E}"/>
              </a:ext>
            </a:extLst>
          </p:cNvPr>
          <p:cNvPicPr>
            <a:picLocks noGrp="1" noChangeAspect="1"/>
          </p:cNvPicPr>
          <p:nvPr>
            <p:ph sz="half" idx="1"/>
          </p:nvPr>
        </p:nvPicPr>
        <p:blipFill>
          <a:blip r:embed="rId3"/>
          <a:srcRect l="9673" r="50648" b="-1"/>
          <a:stretch/>
        </p:blipFill>
        <p:spPr>
          <a:xfrm>
            <a:off x="8115300" y="10"/>
            <a:ext cx="4076700" cy="6857990"/>
          </a:xfrm>
          <a:prstGeom prst="rect">
            <a:avLst/>
          </a:prstGeom>
        </p:spPr>
      </p:pic>
      <p:pic>
        <p:nvPicPr>
          <p:cNvPr id="3" name="Imagen 2">
            <a:extLst>
              <a:ext uri="{FF2B5EF4-FFF2-40B4-BE49-F238E27FC236}">
                <a16:creationId xmlns:a16="http://schemas.microsoft.com/office/drawing/2014/main" id="{335E0B4F-AF87-EAAD-71A4-E05D552AE7F4}"/>
              </a:ext>
            </a:extLst>
          </p:cNvPr>
          <p:cNvPicPr/>
          <p:nvPr/>
        </p:nvPicPr>
        <p:blipFill rotWithShape="1">
          <a:blip r:embed="rId4" cstate="print">
            <a:extLst>
              <a:ext uri="{28A0092B-C50C-407E-A947-70E740481C1C}">
                <a14:useLocalDpi xmlns:a14="http://schemas.microsoft.com/office/drawing/2010/main" val="0"/>
              </a:ext>
            </a:extLst>
          </a:blip>
          <a:srcRect l="905" t="8280" b="-1"/>
          <a:stretch/>
        </p:blipFill>
        <p:spPr bwMode="auto">
          <a:xfrm>
            <a:off x="551688" y="45403"/>
            <a:ext cx="7351059" cy="633095"/>
          </a:xfrm>
          <a:prstGeom prst="rect">
            <a:avLst/>
          </a:prstGeom>
          <a:ln>
            <a:noFill/>
          </a:ln>
          <a:extLst>
            <a:ext uri="{53640926-AAD7-44D8-BBD7-CCE9431645EC}">
              <a14:shadowObscured xmlns:a14="http://schemas.microsoft.com/office/drawing/2010/main"/>
            </a:ext>
          </a:extLst>
        </p:spPr>
      </p:pic>
      <p:sp>
        <p:nvSpPr>
          <p:cNvPr id="13" name="Subtítulo 2">
            <a:extLst>
              <a:ext uri="{FF2B5EF4-FFF2-40B4-BE49-F238E27FC236}">
                <a16:creationId xmlns:a16="http://schemas.microsoft.com/office/drawing/2014/main" id="{3AAFD76D-3F2C-21A4-B844-F9945197157F}"/>
              </a:ext>
            </a:extLst>
          </p:cNvPr>
          <p:cNvSpPr txBox="1">
            <a:spLocks/>
          </p:cNvSpPr>
          <p:nvPr/>
        </p:nvSpPr>
        <p:spPr>
          <a:xfrm>
            <a:off x="0" y="769303"/>
            <a:ext cx="8115300" cy="5373478"/>
          </a:xfrm>
          <a:prstGeom prst="rect">
            <a:avLst/>
          </a:prstGeom>
        </p:spPr>
        <p:txBody>
          <a:bodyPr vert="horz" lIns="91440" tIns="45720" rIns="91440" bIns="45720" rtlCol="0">
            <a:normAutofit fontScale="2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Tecnológico Nacional de México </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Instituto Tecnológico de Frontera Comalapa</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Modalidad Mixta</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Materia: </a:t>
            </a:r>
            <a:r>
              <a:rPr lang="es-ES" sz="6400" dirty="0">
                <a:solidFill>
                  <a:sysClr val="windowText" lastClr="000000"/>
                </a:solidFill>
                <a:latin typeface="Arial" panose="020B0604020202020204" pitchFamily="34" charset="0"/>
                <a:cs typeface="Arial" panose="020B0604020202020204" pitchFamily="34" charset="0"/>
              </a:rPr>
              <a:t>Estructura de Datos</a:t>
            </a: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Semestre: 3er</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Especialidad: </a:t>
            </a: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Ingeniería en Sistemas Computacionales.</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Numero de control:</a:t>
            </a: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241260007</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Alumno: </a:t>
            </a:r>
            <a:r>
              <a:rPr lang="es-ES" sz="6400" dirty="0">
                <a:solidFill>
                  <a:sysClr val="windowText" lastClr="000000"/>
                </a:solidFill>
                <a:latin typeface="Arial" panose="020B0604020202020204" pitchFamily="34" charset="0"/>
                <a:cs typeface="Arial" panose="020B0604020202020204" pitchFamily="34" charset="0"/>
              </a:rPr>
              <a:t>Darvin Yeriel Roblero González</a:t>
            </a: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Docente: </a:t>
            </a: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Francisco Javier Velázquez Mingo</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Nombre del trabajo:  </a:t>
            </a:r>
            <a:r>
              <a:rPr lang="es-ES" sz="6400" b="1" dirty="0">
                <a:solidFill>
                  <a:sysClr val="windowText" lastClr="000000"/>
                </a:solidFill>
                <a:latin typeface="Arial" panose="020B0604020202020204" pitchFamily="34" charset="0"/>
                <a:cs typeface="Arial" panose="020B0604020202020204" pitchFamily="34" charset="0"/>
              </a:rPr>
              <a:t>2.3</a:t>
            </a:r>
            <a:r>
              <a:rPr kumimoji="0" lang="es-ES" sz="64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Ejercicios.</a:t>
            </a: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Frontera Comalapa, Chiapas a </a:t>
            </a:r>
            <a:r>
              <a:rPr lang="es-ES" sz="6400" dirty="0">
                <a:solidFill>
                  <a:sysClr val="windowText" lastClr="000000"/>
                </a:solidFill>
                <a:latin typeface="Arial" panose="020B0604020202020204" pitchFamily="34" charset="0"/>
                <a:cs typeface="Arial" panose="020B0604020202020204" pitchFamily="34" charset="0"/>
              </a:rPr>
              <a:t>31</a:t>
            </a: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de </a:t>
            </a:r>
            <a:r>
              <a:rPr lang="es-ES" sz="6400" dirty="0">
                <a:solidFill>
                  <a:sysClr val="windowText" lastClr="000000"/>
                </a:solidFill>
                <a:latin typeface="Arial" panose="020B0604020202020204" pitchFamily="34" charset="0"/>
                <a:cs typeface="Arial" panose="020B0604020202020204" pitchFamily="34" charset="0"/>
              </a:rPr>
              <a:t>Octubre</a:t>
            </a:r>
            <a:r>
              <a:rPr kumimoji="0" lang="es-ES" sz="64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del 2025</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s-MX" sz="24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380459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4" name="Straight Connector 13">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8" name="Rectangle 17">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3D6E722-76B1-F8CF-37BF-5380FB62079C}"/>
              </a:ext>
            </a:extLst>
          </p:cNvPr>
          <p:cNvSpPr>
            <a:spLocks noGrp="1"/>
          </p:cNvSpPr>
          <p:nvPr>
            <p:ph type="ctrTitle"/>
          </p:nvPr>
        </p:nvSpPr>
        <p:spPr>
          <a:xfrm>
            <a:off x="682316" y="0"/>
            <a:ext cx="3799763" cy="1473200"/>
          </a:xfrm>
        </p:spPr>
        <p:txBody>
          <a:bodyPr vert="horz" lIns="91440" tIns="45720" rIns="91440" bIns="45720" rtlCol="0" anchor="t">
            <a:normAutofit/>
          </a:bodyPr>
          <a:lstStyle/>
          <a:p>
            <a:r>
              <a:rPr lang="es-MX" sz="3600" b="1" noProof="0"/>
              <a:t>Introducción</a:t>
            </a:r>
          </a:p>
        </p:txBody>
      </p:sp>
      <p:cxnSp>
        <p:nvCxnSpPr>
          <p:cNvPr id="20" name="Straight Connector 19">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22539D28-7D5D-010F-AC7C-CF344412D36A}"/>
              </a:ext>
            </a:extLst>
          </p:cNvPr>
          <p:cNvSpPr txBox="1"/>
          <p:nvPr/>
        </p:nvSpPr>
        <p:spPr>
          <a:xfrm>
            <a:off x="0" y="702976"/>
            <a:ext cx="7198940" cy="6155024"/>
          </a:xfrm>
          <a:prstGeom prst="rect">
            <a:avLst/>
          </a:prstGeom>
        </p:spPr>
        <p:txBody>
          <a:bodyPr vert="horz" lIns="91440" tIns="45720" rIns="91440" bIns="45720" rtlCol="0">
            <a:noAutofit/>
          </a:bodyPr>
          <a:lstStyle/>
          <a:p>
            <a:pPr algn="just">
              <a:lnSpc>
                <a:spcPct val="150000"/>
              </a:lnSpc>
              <a:spcAft>
                <a:spcPts val="600"/>
              </a:spcAft>
            </a:pPr>
            <a:r>
              <a:rPr lang="es-MX" sz="2000" dirty="0">
                <a:latin typeface="Arial" panose="020B0604020202020204" pitchFamily="34" charset="0"/>
                <a:cs typeface="Arial" panose="020B0604020202020204" pitchFamily="34" charset="0"/>
              </a:rPr>
              <a:t>En esta actividad les mostraremos como funcionaron cada código que se realizo para que comprendamos como podemos usar la recursividad, presentándoles dos interfaces donde ingresaremos los datos correspondientes y así obtener un resultado deseado.</a:t>
            </a:r>
            <a:endParaRPr lang="es-MX" sz="2000" noProof="0" dirty="0">
              <a:latin typeface="Arial" panose="020B0604020202020204" pitchFamily="34" charset="0"/>
              <a:cs typeface="Arial" panose="020B0604020202020204" pitchFamily="34" charset="0"/>
            </a:endParaRPr>
          </a:p>
        </p:txBody>
      </p:sp>
      <p:pic>
        <p:nvPicPr>
          <p:cNvPr id="6" name="Marcador de contenido 4" descr="Archivos en fondo digital">
            <a:extLst>
              <a:ext uri="{FF2B5EF4-FFF2-40B4-BE49-F238E27FC236}">
                <a16:creationId xmlns:a16="http://schemas.microsoft.com/office/drawing/2014/main" id="{19F0844D-56B2-50A5-5041-124666DE0DCE}"/>
              </a:ext>
            </a:extLst>
          </p:cNvPr>
          <p:cNvPicPr>
            <a:picLocks noChangeAspect="1"/>
          </p:cNvPicPr>
          <p:nvPr/>
        </p:nvPicPr>
        <p:blipFill>
          <a:blip r:embed="rId3"/>
          <a:srcRect l="10522" r="9482" b="-1"/>
          <a:stretch/>
        </p:blipFill>
        <p:spPr>
          <a:xfrm>
            <a:off x="7435012" y="-1"/>
            <a:ext cx="4776597" cy="6857995"/>
          </a:xfrm>
          <a:prstGeom prst="rect">
            <a:avLst/>
          </a:prstGeom>
        </p:spPr>
      </p:pic>
      <p:sp>
        <p:nvSpPr>
          <p:cNvPr id="3" name="Marcador de contenido 2">
            <a:extLst>
              <a:ext uri="{FF2B5EF4-FFF2-40B4-BE49-F238E27FC236}">
                <a16:creationId xmlns:a16="http://schemas.microsoft.com/office/drawing/2014/main" id="{D0C602A4-BE23-F822-D175-F15C7F42F326}"/>
              </a:ext>
            </a:extLst>
          </p:cNvPr>
          <p:cNvSpPr txBox="1">
            <a:spLocks/>
          </p:cNvSpPr>
          <p:nvPr/>
        </p:nvSpPr>
        <p:spPr>
          <a:xfrm>
            <a:off x="522514" y="421368"/>
            <a:ext cx="10515600" cy="4351338"/>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s-MX" dirty="0"/>
          </a:p>
        </p:txBody>
      </p:sp>
    </p:spTree>
    <p:extLst>
      <p:ext uri="{BB962C8B-B14F-4D97-AF65-F5344CB8AC3E}">
        <p14:creationId xmlns:p14="http://schemas.microsoft.com/office/powerpoint/2010/main" val="1092903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0C061-05DE-866E-1BEB-AECACCD1031A}"/>
            </a:ext>
          </a:extLst>
        </p:cNvPr>
        <p:cNvGrpSpPr/>
        <p:nvPr/>
      </p:nvGrpSpPr>
      <p:grpSpPr>
        <a:xfrm>
          <a:off x="0" y="0"/>
          <a:ext cx="0" cy="0"/>
          <a:chOff x="0" y="0"/>
          <a:chExt cx="0" cy="0"/>
        </a:xfrm>
      </p:grpSpPr>
      <p:pic>
        <p:nvPicPr>
          <p:cNvPr id="1026" name="Picture 2" descr="IntelliJ IDEA Version 2024.1 bringt praktische Neuerungen für JetBrains ...">
            <a:extLst>
              <a:ext uri="{FF2B5EF4-FFF2-40B4-BE49-F238E27FC236}">
                <a16:creationId xmlns:a16="http://schemas.microsoft.com/office/drawing/2014/main" id="{1BCE11B3-42BC-B84B-2A78-32DC41267F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6801" y="16658"/>
            <a:ext cx="4185199" cy="6824684"/>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30BBEDAC-E348-9749-900E-A758C457223F}"/>
              </a:ext>
            </a:extLst>
          </p:cNvPr>
          <p:cNvSpPr>
            <a:spLocks noGrp="1"/>
          </p:cNvSpPr>
          <p:nvPr>
            <p:ph type="ctrTitle"/>
          </p:nvPr>
        </p:nvSpPr>
        <p:spPr>
          <a:xfrm>
            <a:off x="682316" y="0"/>
            <a:ext cx="3799763" cy="1473200"/>
          </a:xfrm>
        </p:spPr>
        <p:txBody>
          <a:bodyPr vert="horz" lIns="91440" tIns="45720" rIns="91440" bIns="45720" rtlCol="0" anchor="t">
            <a:normAutofit/>
          </a:bodyPr>
          <a:lstStyle/>
          <a:p>
            <a:r>
              <a:rPr lang="es-MX" sz="3600" b="1" dirty="0"/>
              <a:t>Justificación</a:t>
            </a:r>
            <a:endParaRPr lang="es-MX" sz="3600" b="1" noProof="0" dirty="0"/>
          </a:p>
        </p:txBody>
      </p:sp>
      <p:sp>
        <p:nvSpPr>
          <p:cNvPr id="5" name="CuadroTexto 4">
            <a:extLst>
              <a:ext uri="{FF2B5EF4-FFF2-40B4-BE49-F238E27FC236}">
                <a16:creationId xmlns:a16="http://schemas.microsoft.com/office/drawing/2014/main" id="{4C75A43C-848A-5DE3-4CD8-8C292FE06513}"/>
              </a:ext>
            </a:extLst>
          </p:cNvPr>
          <p:cNvSpPr txBox="1"/>
          <p:nvPr/>
        </p:nvSpPr>
        <p:spPr>
          <a:xfrm>
            <a:off x="274305" y="937019"/>
            <a:ext cx="7552524" cy="4613839"/>
          </a:xfrm>
          <a:prstGeom prst="rect">
            <a:avLst/>
          </a:prstGeom>
        </p:spPr>
        <p:txBody>
          <a:bodyPr vert="horz" lIns="91440" tIns="45720" rIns="91440" bIns="45720" rtlCol="0">
            <a:noAutofit/>
          </a:bodyPr>
          <a:lstStyle/>
          <a:p>
            <a:pPr algn="just">
              <a:lnSpc>
                <a:spcPct val="150000"/>
              </a:lnSpc>
              <a:spcAft>
                <a:spcPts val="600"/>
              </a:spcAft>
            </a:pPr>
            <a:r>
              <a:rPr lang="es-MX" sz="2000" noProof="0" dirty="0">
                <a:latin typeface="Arial" panose="020B0604020202020204" pitchFamily="34" charset="0"/>
                <a:cs typeface="Arial" panose="020B0604020202020204" pitchFamily="34" charset="0"/>
              </a:rPr>
              <a:t>Estos ejercicios decidimos realizarlo ya que </a:t>
            </a:r>
            <a:r>
              <a:rPr lang="es-MX" sz="2000" dirty="0">
                <a:latin typeface="Arial" panose="020B0604020202020204" pitchFamily="34" charset="0"/>
                <a:cs typeface="Arial" panose="020B0604020202020204" pitchFamily="34" charset="0"/>
              </a:rPr>
              <a:t>nos dejaron de tarea para poder practicarlo e ir comprendiendo cada paso importante desde que creamos el proyecto hasta que finaliza cuando ingresamos dichos datos y esto no servirá para poder desarrollar nuestras habilidades de lo que aprendimos durante las clases.</a:t>
            </a:r>
            <a:endParaRPr lang="es-MX" sz="2000" noProof="0"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39F73123-9891-32C6-959E-88DCD3D6CAD5}"/>
              </a:ext>
            </a:extLst>
          </p:cNvPr>
          <p:cNvSpPr txBox="1">
            <a:spLocks/>
          </p:cNvSpPr>
          <p:nvPr/>
        </p:nvSpPr>
        <p:spPr>
          <a:xfrm>
            <a:off x="522514" y="421368"/>
            <a:ext cx="10515600" cy="4351338"/>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s-MX" dirty="0"/>
          </a:p>
        </p:txBody>
      </p:sp>
    </p:spTree>
    <p:extLst>
      <p:ext uri="{BB962C8B-B14F-4D97-AF65-F5344CB8AC3E}">
        <p14:creationId xmlns:p14="http://schemas.microsoft.com/office/powerpoint/2010/main" val="5473939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1" name="Straight Connector 10">
            <a:extLst>
              <a:ext uri="{FF2B5EF4-FFF2-40B4-BE49-F238E27FC236}">
                <a16:creationId xmlns:a16="http://schemas.microsoft.com/office/drawing/2014/main" id="{22F20000-FD86-48F6-9363-FEC90C932D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872AE332-6ACA-45BE-875F-91A291D4A4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ítulo 1">
            <a:extLst>
              <a:ext uri="{FF2B5EF4-FFF2-40B4-BE49-F238E27FC236}">
                <a16:creationId xmlns:a16="http://schemas.microsoft.com/office/drawing/2014/main" id="{6C34C578-81DE-2799-917F-302099732492}"/>
              </a:ext>
            </a:extLst>
          </p:cNvPr>
          <p:cNvSpPr txBox="1">
            <a:spLocks/>
          </p:cNvSpPr>
          <p:nvPr/>
        </p:nvSpPr>
        <p:spPr>
          <a:xfrm>
            <a:off x="909860" y="248726"/>
            <a:ext cx="6764568" cy="399956"/>
          </a:xfrm>
          <a:prstGeom prst="rect">
            <a:avLst/>
          </a:prstGeom>
        </p:spPr>
        <p:txBody>
          <a:bodyPr vert="horz" lIns="91440" tIns="45720" rIns="91440" bIns="45720" rtlCol="0" anchor="t">
            <a:normAutofit fontScale="70000" lnSpcReduction="20000"/>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r>
              <a:rPr lang="es-MX" sz="3600" b="1" dirty="0"/>
              <a:t>Recursividad “Factorial de un numero”</a:t>
            </a:r>
          </a:p>
        </p:txBody>
      </p:sp>
      <p:sp>
        <p:nvSpPr>
          <p:cNvPr id="7" name="CuadroTexto 6">
            <a:extLst>
              <a:ext uri="{FF2B5EF4-FFF2-40B4-BE49-F238E27FC236}">
                <a16:creationId xmlns:a16="http://schemas.microsoft.com/office/drawing/2014/main" id="{B7CCCC95-9BBD-AF1F-20E2-9B155439DD5F}"/>
              </a:ext>
            </a:extLst>
          </p:cNvPr>
          <p:cNvSpPr txBox="1"/>
          <p:nvPr/>
        </p:nvSpPr>
        <p:spPr>
          <a:xfrm>
            <a:off x="0" y="4672625"/>
            <a:ext cx="11843657" cy="1626301"/>
          </a:xfrm>
          <a:prstGeom prst="rect">
            <a:avLst/>
          </a:prstGeom>
        </p:spPr>
        <p:txBody>
          <a:bodyPr vert="horz" lIns="91440" tIns="45720" rIns="91440" bIns="45720" rtlCol="0">
            <a:noAutofit/>
          </a:bodyPr>
          <a:lstStyle/>
          <a:p>
            <a:pPr algn="just">
              <a:lnSpc>
                <a:spcPct val="150000"/>
              </a:lnSpc>
              <a:spcAft>
                <a:spcPts val="600"/>
              </a:spcAft>
            </a:pPr>
            <a:r>
              <a:rPr lang="es-MX" sz="2000" b="1" dirty="0">
                <a:latin typeface="Arial" panose="020B0604020202020204" pitchFamily="34" charset="0"/>
                <a:cs typeface="Arial" panose="020B0604020202020204" pitchFamily="34" charset="0"/>
              </a:rPr>
              <a:t>En este ejercicio generamos una recursividad de un factorial de un numero donde podremos llamar así mismo un valor determinado y una vez ingresado los datos nos muestran los resultados esperados, esto nos ayudara a escribir códigos mas concisos y entendibles.</a:t>
            </a:r>
          </a:p>
        </p:txBody>
      </p:sp>
      <p:pic>
        <p:nvPicPr>
          <p:cNvPr id="10" name="Imagen 9">
            <a:extLst>
              <a:ext uri="{FF2B5EF4-FFF2-40B4-BE49-F238E27FC236}">
                <a16:creationId xmlns:a16="http://schemas.microsoft.com/office/drawing/2014/main" id="{0A7FE358-7465-D44D-AF0C-F7721549DFA6}"/>
              </a:ext>
            </a:extLst>
          </p:cNvPr>
          <p:cNvPicPr>
            <a:picLocks noChangeAspect="1"/>
          </p:cNvPicPr>
          <p:nvPr/>
        </p:nvPicPr>
        <p:blipFill>
          <a:blip r:embed="rId3"/>
          <a:stretch>
            <a:fillRect/>
          </a:stretch>
        </p:blipFill>
        <p:spPr>
          <a:xfrm>
            <a:off x="221212" y="904683"/>
            <a:ext cx="5156331" cy="3782520"/>
          </a:xfrm>
          <a:prstGeom prst="rect">
            <a:avLst/>
          </a:prstGeom>
        </p:spPr>
      </p:pic>
      <p:pic>
        <p:nvPicPr>
          <p:cNvPr id="14" name="Imagen 13">
            <a:extLst>
              <a:ext uri="{FF2B5EF4-FFF2-40B4-BE49-F238E27FC236}">
                <a16:creationId xmlns:a16="http://schemas.microsoft.com/office/drawing/2014/main" id="{EB65B9F7-7F3D-2F9D-EEDC-705893A52163}"/>
              </a:ext>
            </a:extLst>
          </p:cNvPr>
          <p:cNvPicPr>
            <a:picLocks noChangeAspect="1"/>
          </p:cNvPicPr>
          <p:nvPr/>
        </p:nvPicPr>
        <p:blipFill>
          <a:blip r:embed="rId4"/>
          <a:stretch>
            <a:fillRect/>
          </a:stretch>
        </p:blipFill>
        <p:spPr>
          <a:xfrm>
            <a:off x="5921828" y="865425"/>
            <a:ext cx="5429039" cy="3807200"/>
          </a:xfrm>
          <a:prstGeom prst="rect">
            <a:avLst/>
          </a:prstGeom>
        </p:spPr>
      </p:pic>
    </p:spTree>
    <p:extLst>
      <p:ext uri="{BB962C8B-B14F-4D97-AF65-F5344CB8AC3E}">
        <p14:creationId xmlns:p14="http://schemas.microsoft.com/office/powerpoint/2010/main" val="14452751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D4452B-1500-515A-A4C4-AE799B6F323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FD329-E8C3-D022-5303-04BBB42DE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1" name="Straight Connector 10">
            <a:extLst>
              <a:ext uri="{FF2B5EF4-FFF2-40B4-BE49-F238E27FC236}">
                <a16:creationId xmlns:a16="http://schemas.microsoft.com/office/drawing/2014/main" id="{1A21B14A-D330-2D91-503F-2674CCC6632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009798C-5147-5439-7209-9190259292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ítulo 1">
            <a:extLst>
              <a:ext uri="{FF2B5EF4-FFF2-40B4-BE49-F238E27FC236}">
                <a16:creationId xmlns:a16="http://schemas.microsoft.com/office/drawing/2014/main" id="{F449E301-2D1C-DA01-4B75-F7F5AE07D0EB}"/>
              </a:ext>
            </a:extLst>
          </p:cNvPr>
          <p:cNvSpPr txBox="1">
            <a:spLocks/>
          </p:cNvSpPr>
          <p:nvPr/>
        </p:nvSpPr>
        <p:spPr>
          <a:xfrm>
            <a:off x="909860" y="248726"/>
            <a:ext cx="6764568" cy="399956"/>
          </a:xfrm>
          <a:prstGeom prst="rect">
            <a:avLst/>
          </a:prstGeom>
        </p:spPr>
        <p:txBody>
          <a:bodyPr vert="horz" lIns="91440" tIns="45720" rIns="91440" bIns="45720" rtlCol="0" anchor="t">
            <a:normAutofit fontScale="70000" lnSpcReduction="20000"/>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r>
              <a:rPr lang="es-MX" sz="3600" b="1" dirty="0"/>
              <a:t>Recursividad “SERIE DE FIBONACCI”</a:t>
            </a:r>
          </a:p>
        </p:txBody>
      </p:sp>
      <p:sp>
        <p:nvSpPr>
          <p:cNvPr id="7" name="CuadroTexto 6">
            <a:extLst>
              <a:ext uri="{FF2B5EF4-FFF2-40B4-BE49-F238E27FC236}">
                <a16:creationId xmlns:a16="http://schemas.microsoft.com/office/drawing/2014/main" id="{9BD9A876-0317-CD85-1786-7D38D31A29E5}"/>
              </a:ext>
            </a:extLst>
          </p:cNvPr>
          <p:cNvSpPr txBox="1"/>
          <p:nvPr/>
        </p:nvSpPr>
        <p:spPr>
          <a:xfrm>
            <a:off x="0" y="4672625"/>
            <a:ext cx="11843657" cy="1626301"/>
          </a:xfrm>
          <a:prstGeom prst="rect">
            <a:avLst/>
          </a:prstGeom>
        </p:spPr>
        <p:txBody>
          <a:bodyPr vert="horz" lIns="91440" tIns="45720" rIns="91440" bIns="45720" rtlCol="0">
            <a:noAutofit/>
          </a:bodyPr>
          <a:lstStyle/>
          <a:p>
            <a:pPr algn="just">
              <a:lnSpc>
                <a:spcPct val="150000"/>
              </a:lnSpc>
              <a:spcAft>
                <a:spcPts val="600"/>
              </a:spcAft>
            </a:pPr>
            <a:r>
              <a:rPr lang="es-MX" sz="2000" b="1" dirty="0">
                <a:latin typeface="Arial" panose="020B0604020202020204" pitchFamily="34" charset="0"/>
                <a:cs typeface="Arial" panose="020B0604020202020204" pitchFamily="34" charset="0"/>
              </a:rPr>
              <a:t>En este ejercicio generamos una recursividad con la serie de Fibonacci donde se determina la suma de una secuencia numérica en donde cada numero plasmado es la suma de los dos anteriores lo cual obtendremos los resultados correctos de acuerdo a la suma.</a:t>
            </a:r>
          </a:p>
        </p:txBody>
      </p:sp>
      <p:pic>
        <p:nvPicPr>
          <p:cNvPr id="4" name="Imagen 3">
            <a:extLst>
              <a:ext uri="{FF2B5EF4-FFF2-40B4-BE49-F238E27FC236}">
                <a16:creationId xmlns:a16="http://schemas.microsoft.com/office/drawing/2014/main" id="{F30ECE4D-5185-BCA2-82FC-2E28946BCCE0}"/>
              </a:ext>
            </a:extLst>
          </p:cNvPr>
          <p:cNvPicPr>
            <a:picLocks noChangeAspect="1"/>
          </p:cNvPicPr>
          <p:nvPr/>
        </p:nvPicPr>
        <p:blipFill>
          <a:blip r:embed="rId3"/>
          <a:stretch>
            <a:fillRect/>
          </a:stretch>
        </p:blipFill>
        <p:spPr>
          <a:xfrm>
            <a:off x="194736" y="766462"/>
            <a:ext cx="5017103" cy="3628044"/>
          </a:xfrm>
          <a:prstGeom prst="rect">
            <a:avLst/>
          </a:prstGeom>
        </p:spPr>
      </p:pic>
      <p:pic>
        <p:nvPicPr>
          <p:cNvPr id="6" name="Imagen 5">
            <a:extLst>
              <a:ext uri="{FF2B5EF4-FFF2-40B4-BE49-F238E27FC236}">
                <a16:creationId xmlns:a16="http://schemas.microsoft.com/office/drawing/2014/main" id="{465E1D6F-E2FD-73A4-93D9-A3F59F7EFE17}"/>
              </a:ext>
            </a:extLst>
          </p:cNvPr>
          <p:cNvPicPr>
            <a:picLocks noChangeAspect="1"/>
          </p:cNvPicPr>
          <p:nvPr/>
        </p:nvPicPr>
        <p:blipFill>
          <a:blip r:embed="rId4"/>
          <a:stretch>
            <a:fillRect/>
          </a:stretch>
        </p:blipFill>
        <p:spPr>
          <a:xfrm>
            <a:off x="5739162" y="766462"/>
            <a:ext cx="5652738" cy="3750042"/>
          </a:xfrm>
          <a:prstGeom prst="rect">
            <a:avLst/>
          </a:prstGeom>
        </p:spPr>
      </p:pic>
    </p:spTree>
    <p:extLst>
      <p:ext uri="{BB962C8B-B14F-4D97-AF65-F5344CB8AC3E}">
        <p14:creationId xmlns:p14="http://schemas.microsoft.com/office/powerpoint/2010/main" val="3212208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1359BB-E1CA-2DDB-4138-A23D24F3F59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8B0D6F4-1C5D-D50C-8CA8-1CC1778F1C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cxnSp>
        <p:nvCxnSpPr>
          <p:cNvPr id="11" name="Straight Connector 10">
            <a:extLst>
              <a:ext uri="{FF2B5EF4-FFF2-40B4-BE49-F238E27FC236}">
                <a16:creationId xmlns:a16="http://schemas.microsoft.com/office/drawing/2014/main" id="{304C0284-B73F-3745-84A0-C2A1B13B75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68B73D2-5526-FD44-1D76-541F465FB2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ítulo 1">
            <a:extLst>
              <a:ext uri="{FF2B5EF4-FFF2-40B4-BE49-F238E27FC236}">
                <a16:creationId xmlns:a16="http://schemas.microsoft.com/office/drawing/2014/main" id="{8D1EE399-FB3E-CAC0-C8EF-70A906C09FDB}"/>
              </a:ext>
            </a:extLst>
          </p:cNvPr>
          <p:cNvSpPr txBox="1">
            <a:spLocks/>
          </p:cNvSpPr>
          <p:nvPr/>
        </p:nvSpPr>
        <p:spPr>
          <a:xfrm>
            <a:off x="909860" y="248726"/>
            <a:ext cx="6764568" cy="399956"/>
          </a:xfrm>
          <a:prstGeom prst="rect">
            <a:avLst/>
          </a:prstGeom>
        </p:spPr>
        <p:txBody>
          <a:bodyPr vert="horz" lIns="91440" tIns="45720" rIns="91440" bIns="45720" rtlCol="0" anchor="t">
            <a:normAutofit fontScale="55000" lnSpcReduction="20000"/>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r>
              <a:rPr lang="es-MX" sz="3600" b="1" dirty="0"/>
              <a:t>Recursividad “Suma de los primeros números”</a:t>
            </a:r>
          </a:p>
        </p:txBody>
      </p:sp>
      <p:sp>
        <p:nvSpPr>
          <p:cNvPr id="7" name="CuadroTexto 6">
            <a:extLst>
              <a:ext uri="{FF2B5EF4-FFF2-40B4-BE49-F238E27FC236}">
                <a16:creationId xmlns:a16="http://schemas.microsoft.com/office/drawing/2014/main" id="{811F36F6-7EE5-2F0B-A50B-FD78111A5F0D}"/>
              </a:ext>
            </a:extLst>
          </p:cNvPr>
          <p:cNvSpPr txBox="1"/>
          <p:nvPr/>
        </p:nvSpPr>
        <p:spPr>
          <a:xfrm>
            <a:off x="87086" y="4248083"/>
            <a:ext cx="11843657" cy="2043860"/>
          </a:xfrm>
          <a:prstGeom prst="rect">
            <a:avLst/>
          </a:prstGeom>
        </p:spPr>
        <p:txBody>
          <a:bodyPr vert="horz" lIns="91440" tIns="45720" rIns="91440" bIns="45720" rtlCol="0">
            <a:noAutofit/>
          </a:bodyPr>
          <a:lstStyle/>
          <a:p>
            <a:pPr algn="just">
              <a:lnSpc>
                <a:spcPct val="150000"/>
              </a:lnSpc>
              <a:spcAft>
                <a:spcPts val="600"/>
              </a:spcAft>
            </a:pPr>
            <a:r>
              <a:rPr lang="es-MX" sz="2000" b="1" dirty="0">
                <a:latin typeface="Arial" panose="020B0604020202020204" pitchFamily="34" charset="0"/>
                <a:cs typeface="Arial" panose="020B0604020202020204" pitchFamily="34" charset="0"/>
              </a:rPr>
              <a:t>En este ejercicio realizamos la suma de los primeros números en lo cual al poner cualquier numero determinado y realizamos la suma nos muestra la suma de los primeros números y una vez teniendo el resultado volvemos a ingresar otro numero y el resultado anterior lo suma con el numero que se puso y así consecutivamente.</a:t>
            </a:r>
          </a:p>
        </p:txBody>
      </p:sp>
      <p:pic>
        <p:nvPicPr>
          <p:cNvPr id="5" name="Imagen 4">
            <a:extLst>
              <a:ext uri="{FF2B5EF4-FFF2-40B4-BE49-F238E27FC236}">
                <a16:creationId xmlns:a16="http://schemas.microsoft.com/office/drawing/2014/main" id="{DD33A6EB-301A-F9A7-DC5B-1D64593C16A4}"/>
              </a:ext>
            </a:extLst>
          </p:cNvPr>
          <p:cNvPicPr>
            <a:picLocks noChangeAspect="1"/>
          </p:cNvPicPr>
          <p:nvPr/>
        </p:nvPicPr>
        <p:blipFill>
          <a:blip r:embed="rId3"/>
          <a:stretch>
            <a:fillRect/>
          </a:stretch>
        </p:blipFill>
        <p:spPr>
          <a:xfrm>
            <a:off x="45776" y="897408"/>
            <a:ext cx="3581049" cy="2531590"/>
          </a:xfrm>
          <a:prstGeom prst="rect">
            <a:avLst/>
          </a:prstGeom>
        </p:spPr>
      </p:pic>
      <p:pic>
        <p:nvPicPr>
          <p:cNvPr id="10" name="Imagen 9">
            <a:extLst>
              <a:ext uri="{FF2B5EF4-FFF2-40B4-BE49-F238E27FC236}">
                <a16:creationId xmlns:a16="http://schemas.microsoft.com/office/drawing/2014/main" id="{1CF5CC06-E196-9EAA-49A3-BB267A3FE457}"/>
              </a:ext>
            </a:extLst>
          </p:cNvPr>
          <p:cNvPicPr>
            <a:picLocks noChangeAspect="1"/>
          </p:cNvPicPr>
          <p:nvPr/>
        </p:nvPicPr>
        <p:blipFill>
          <a:blip r:embed="rId4"/>
          <a:stretch>
            <a:fillRect/>
          </a:stretch>
        </p:blipFill>
        <p:spPr>
          <a:xfrm>
            <a:off x="3837684" y="897408"/>
            <a:ext cx="3543212" cy="2442975"/>
          </a:xfrm>
          <a:prstGeom prst="rect">
            <a:avLst/>
          </a:prstGeom>
        </p:spPr>
      </p:pic>
      <p:pic>
        <p:nvPicPr>
          <p:cNvPr id="16" name="Imagen 15">
            <a:extLst>
              <a:ext uri="{FF2B5EF4-FFF2-40B4-BE49-F238E27FC236}">
                <a16:creationId xmlns:a16="http://schemas.microsoft.com/office/drawing/2014/main" id="{4DF3DFA1-BB32-3C9A-DE50-F927AB9A5115}"/>
              </a:ext>
            </a:extLst>
          </p:cNvPr>
          <p:cNvPicPr>
            <a:picLocks noChangeAspect="1"/>
          </p:cNvPicPr>
          <p:nvPr/>
        </p:nvPicPr>
        <p:blipFill>
          <a:blip r:embed="rId5"/>
          <a:stretch>
            <a:fillRect/>
          </a:stretch>
        </p:blipFill>
        <p:spPr>
          <a:xfrm>
            <a:off x="7826652" y="785491"/>
            <a:ext cx="3565248" cy="2531589"/>
          </a:xfrm>
          <a:prstGeom prst="rect">
            <a:avLst/>
          </a:prstGeom>
        </p:spPr>
      </p:pic>
    </p:spTree>
    <p:extLst>
      <p:ext uri="{BB962C8B-B14F-4D97-AF65-F5344CB8AC3E}">
        <p14:creationId xmlns:p14="http://schemas.microsoft.com/office/powerpoint/2010/main" val="30936771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5466469-BFDD-CD8A-40BE-97E7C8E33C11}"/>
              </a:ext>
            </a:extLst>
          </p:cNvPr>
          <p:cNvSpPr>
            <a:spLocks noGrp="1"/>
          </p:cNvSpPr>
          <p:nvPr>
            <p:ph type="title"/>
          </p:nvPr>
        </p:nvSpPr>
        <p:spPr>
          <a:xfrm>
            <a:off x="6239673" y="120858"/>
            <a:ext cx="3118794" cy="592373"/>
          </a:xfrm>
        </p:spPr>
        <p:txBody>
          <a:bodyPr vert="horz" lIns="91440" tIns="45720" rIns="91440" bIns="45720" rtlCol="0" anchor="t">
            <a:normAutofit fontScale="90000"/>
          </a:bodyPr>
          <a:lstStyle/>
          <a:p>
            <a:pPr>
              <a:lnSpc>
                <a:spcPct val="90000"/>
              </a:lnSpc>
            </a:pPr>
            <a:r>
              <a:rPr lang="es-MX" noProof="0"/>
              <a:t>CONCLUSIÒN</a:t>
            </a:r>
          </a:p>
        </p:txBody>
      </p:sp>
      <p:pic>
        <p:nvPicPr>
          <p:cNvPr id="5" name="Marcador de contenido 4" descr="Hombre de negocios caminando en pantalla de realidad virtual">
            <a:extLst>
              <a:ext uri="{FF2B5EF4-FFF2-40B4-BE49-F238E27FC236}">
                <a16:creationId xmlns:a16="http://schemas.microsoft.com/office/drawing/2014/main" id="{1FDE7A20-B612-4CA9-9F15-33AF2DD6FE82}"/>
              </a:ext>
            </a:extLst>
          </p:cNvPr>
          <p:cNvPicPr>
            <a:picLocks noGrp="1" noChangeAspect="1"/>
          </p:cNvPicPr>
          <p:nvPr>
            <p:ph sz="half" idx="1"/>
          </p:nvPr>
        </p:nvPicPr>
        <p:blipFill>
          <a:blip r:embed="rId3"/>
          <a:srcRect l="39887" r="25704" b="1"/>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3E36F845-7BF8-082C-5B3B-47710A3998F6}"/>
              </a:ext>
            </a:extLst>
          </p:cNvPr>
          <p:cNvSpPr txBox="1"/>
          <p:nvPr/>
        </p:nvSpPr>
        <p:spPr>
          <a:xfrm>
            <a:off x="4599650" y="834089"/>
            <a:ext cx="7198940" cy="5185711"/>
          </a:xfrm>
          <a:prstGeom prst="rect">
            <a:avLst/>
          </a:prstGeom>
        </p:spPr>
        <p:txBody>
          <a:bodyPr vert="horz" lIns="91440" tIns="45720" rIns="91440" bIns="45720" rtlCol="0">
            <a:noAutofit/>
          </a:bodyPr>
          <a:lstStyle/>
          <a:p>
            <a:pPr algn="just">
              <a:lnSpc>
                <a:spcPct val="150000"/>
              </a:lnSpc>
              <a:spcAft>
                <a:spcPts val="600"/>
              </a:spcAft>
            </a:pPr>
            <a:r>
              <a:rPr lang="es-MX" sz="2000" noProof="0" dirty="0">
                <a:latin typeface="Arial" panose="020B0604020202020204" pitchFamily="34" charset="0"/>
                <a:cs typeface="Arial" panose="020B0604020202020204" pitchFamily="34" charset="0"/>
              </a:rPr>
              <a:t>Para finalizar comprendimos que tan</a:t>
            </a:r>
            <a:r>
              <a:rPr lang="es-MX" sz="2000" dirty="0">
                <a:latin typeface="Arial" panose="020B0604020202020204" pitchFamily="34" charset="0"/>
                <a:cs typeface="Arial" panose="020B0604020202020204" pitchFamily="34" charset="0"/>
              </a:rPr>
              <a:t>to sirve este tema de recursividad en la vida del programador ya que nos facilita actividades y así poder solucionar de una mejor manera los problemas que se presenten en el campo laboral.</a:t>
            </a:r>
            <a:endParaRPr lang="es-MX" sz="2000" noProof="0" dirty="0">
              <a:latin typeface="Arial" panose="020B0604020202020204" pitchFamily="34" charset="0"/>
              <a:cs typeface="Arial" panose="020B0604020202020204" pitchFamily="34" charset="0"/>
            </a:endParaRPr>
          </a:p>
        </p:txBody>
      </p:sp>
      <p:sp>
        <p:nvSpPr>
          <p:cNvPr id="9" name="Título 1">
            <a:extLst>
              <a:ext uri="{FF2B5EF4-FFF2-40B4-BE49-F238E27FC236}">
                <a16:creationId xmlns:a16="http://schemas.microsoft.com/office/drawing/2014/main" id="{BEDF8800-453A-2BB8-AC85-84920BDA0B41}"/>
              </a:ext>
            </a:extLst>
          </p:cNvPr>
          <p:cNvSpPr txBox="1">
            <a:spLocks/>
          </p:cNvSpPr>
          <p:nvPr/>
        </p:nvSpPr>
        <p:spPr>
          <a:xfrm>
            <a:off x="4556373" y="5785104"/>
            <a:ext cx="7198939" cy="59237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a:lstStyle>
          <a:p>
            <a:pPr>
              <a:lnSpc>
                <a:spcPct val="90000"/>
              </a:lnSpc>
            </a:pPr>
            <a:r>
              <a:rPr lang="es-MX" sz="2200" b="1" noProof="0" dirty="0"/>
              <a:t>“La mejor forma de predecir el futuro es crearlo</a:t>
            </a:r>
            <a:r>
              <a:rPr lang="es-MX" sz="2200" noProof="0" dirty="0"/>
              <a:t>”</a:t>
            </a:r>
          </a:p>
        </p:txBody>
      </p:sp>
    </p:spTree>
    <p:extLst>
      <p:ext uri="{BB962C8B-B14F-4D97-AF65-F5344CB8AC3E}">
        <p14:creationId xmlns:p14="http://schemas.microsoft.com/office/powerpoint/2010/main" val="246986348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50F074-FAAB-CC8F-96AB-0F2BB9869B6D}"/>
            </a:ext>
          </a:extLst>
        </p:cNvPr>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BE171BF4-5C4D-DF14-0CAC-EDD02230CE4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755A6B7-2C66-F86C-3626-C07755E285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33E2770D-7E3D-1818-ED71-4A7A365E97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69985DA-A06A-72E4-4C41-B189F2CAFC69}"/>
              </a:ext>
            </a:extLst>
          </p:cNvPr>
          <p:cNvSpPr>
            <a:spLocks noGrp="1"/>
          </p:cNvSpPr>
          <p:nvPr>
            <p:ph type="title"/>
          </p:nvPr>
        </p:nvSpPr>
        <p:spPr>
          <a:xfrm>
            <a:off x="5279572" y="120858"/>
            <a:ext cx="5987142" cy="592373"/>
          </a:xfrm>
        </p:spPr>
        <p:txBody>
          <a:bodyPr vert="horz" lIns="91440" tIns="45720" rIns="91440" bIns="45720" rtlCol="0" anchor="t">
            <a:normAutofit fontScale="90000"/>
          </a:bodyPr>
          <a:lstStyle/>
          <a:p>
            <a:pPr>
              <a:lnSpc>
                <a:spcPct val="90000"/>
              </a:lnSpc>
            </a:pPr>
            <a:r>
              <a:rPr lang="es-MX" dirty="0"/>
              <a:t>Fuentes de información</a:t>
            </a:r>
            <a:endParaRPr lang="es-MX" noProof="0" dirty="0"/>
          </a:p>
        </p:txBody>
      </p:sp>
      <p:pic>
        <p:nvPicPr>
          <p:cNvPr id="5" name="Marcador de contenido 4" descr="Hombre de negocios caminando en pantalla de realidad virtual">
            <a:extLst>
              <a:ext uri="{FF2B5EF4-FFF2-40B4-BE49-F238E27FC236}">
                <a16:creationId xmlns:a16="http://schemas.microsoft.com/office/drawing/2014/main" id="{C7300A26-D716-EAB0-A60F-11F63A37F401}"/>
              </a:ext>
            </a:extLst>
          </p:cNvPr>
          <p:cNvPicPr>
            <a:picLocks noGrp="1" noChangeAspect="1"/>
          </p:cNvPicPr>
          <p:nvPr>
            <p:ph sz="half" idx="1"/>
          </p:nvPr>
        </p:nvPicPr>
        <p:blipFill>
          <a:blip r:embed="rId3"/>
          <a:srcRect l="39887" r="25704" b="1"/>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32990E66-8EBF-F05A-FFE2-6C84F65EC4C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BAAA633-5C61-BAED-FC8D-5EF0083170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uadroTexto 6">
            <a:extLst>
              <a:ext uri="{FF2B5EF4-FFF2-40B4-BE49-F238E27FC236}">
                <a16:creationId xmlns:a16="http://schemas.microsoft.com/office/drawing/2014/main" id="{332266D0-ECAD-CF2B-F148-27B353432FA6}"/>
              </a:ext>
            </a:extLst>
          </p:cNvPr>
          <p:cNvSpPr txBox="1"/>
          <p:nvPr/>
        </p:nvSpPr>
        <p:spPr>
          <a:xfrm>
            <a:off x="4599650" y="834089"/>
            <a:ext cx="7198940" cy="2594909"/>
          </a:xfrm>
          <a:prstGeom prst="rect">
            <a:avLst/>
          </a:prstGeom>
        </p:spPr>
        <p:txBody>
          <a:bodyPr vert="horz" lIns="91440" tIns="45720" rIns="91440" bIns="45720" rtlCol="0">
            <a:noAutofit/>
          </a:bodyPr>
          <a:lstStyle/>
          <a:p>
            <a:pPr algn="just">
              <a:lnSpc>
                <a:spcPct val="150000"/>
              </a:lnSpc>
              <a:spcAft>
                <a:spcPts val="600"/>
              </a:spcAft>
            </a:pPr>
            <a:r>
              <a:rPr lang="es-MX" sz="2000" noProof="0" dirty="0">
                <a:latin typeface="Arial" panose="020B0604020202020204" pitchFamily="34" charset="0"/>
                <a:cs typeface="Arial" panose="020B0604020202020204" pitchFamily="34" charset="0"/>
              </a:rPr>
              <a:t>Todos los ejercicios fueron realizados en </a:t>
            </a:r>
            <a:r>
              <a:rPr lang="es-MX" dirty="0"/>
              <a:t>IntelliJ IDEA y en el SceneBuilder ya que son dos herramientas fundamentales para realizar programas eficientes y entendibles. Así mismo las actividades se subieron a la app de GitHub que es una app muy esencial para poder subir actividades en la nube y que otros puedan ingresar con un link a dicho programa y visualizar las actividades.</a:t>
            </a:r>
          </a:p>
          <a:p>
            <a:pPr algn="just">
              <a:lnSpc>
                <a:spcPct val="150000"/>
              </a:lnSpc>
              <a:spcAft>
                <a:spcPts val="600"/>
              </a:spcAft>
            </a:pPr>
            <a:endParaRPr lang="es-MX" sz="2000" b="1" noProof="0" dirty="0">
              <a:latin typeface="Arial" panose="020B0604020202020204" pitchFamily="34" charset="0"/>
              <a:cs typeface="Arial" panose="020B0604020202020204" pitchFamily="34" charset="0"/>
            </a:endParaRPr>
          </a:p>
          <a:p>
            <a:pPr algn="just">
              <a:lnSpc>
                <a:spcPct val="150000"/>
              </a:lnSpc>
              <a:spcAft>
                <a:spcPts val="600"/>
              </a:spcAft>
            </a:pPr>
            <a:endParaRPr lang="es-MX" sz="2000" b="1" noProof="0" dirty="0">
              <a:latin typeface="Arial" panose="020B0604020202020204" pitchFamily="34" charset="0"/>
              <a:cs typeface="Arial" panose="020B0604020202020204" pitchFamily="34" charset="0"/>
            </a:endParaRPr>
          </a:p>
        </p:txBody>
      </p:sp>
      <p:pic>
        <p:nvPicPr>
          <p:cNvPr id="1026" name="Picture 2" descr="IntelliJ IDEA Logo / Software / Logonoid.com">
            <a:extLst>
              <a:ext uri="{FF2B5EF4-FFF2-40B4-BE49-F238E27FC236}">
                <a16:creationId xmlns:a16="http://schemas.microsoft.com/office/drawing/2014/main" id="{F0EE6089-DD3A-57B3-68D3-79531A9377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9269" y="3537856"/>
            <a:ext cx="1929615" cy="192961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A175BF2F-734B-F7AC-9469-06B96C9190F9}"/>
              </a:ext>
            </a:extLst>
          </p:cNvPr>
          <p:cNvPicPr>
            <a:picLocks noChangeAspect="1"/>
          </p:cNvPicPr>
          <p:nvPr/>
        </p:nvPicPr>
        <p:blipFill>
          <a:blip r:embed="rId5"/>
          <a:stretch>
            <a:fillRect/>
          </a:stretch>
        </p:blipFill>
        <p:spPr>
          <a:xfrm>
            <a:off x="7083048" y="3577206"/>
            <a:ext cx="1784705" cy="1784705"/>
          </a:xfrm>
          <a:prstGeom prst="rect">
            <a:avLst/>
          </a:prstGeom>
        </p:spPr>
      </p:pic>
      <p:pic>
        <p:nvPicPr>
          <p:cNvPr id="3" name="Picture 2" descr="Qué es Github y sus características principales - Qindel: Consultoría IT">
            <a:extLst>
              <a:ext uri="{FF2B5EF4-FFF2-40B4-BE49-F238E27FC236}">
                <a16:creationId xmlns:a16="http://schemas.microsoft.com/office/drawing/2014/main" id="{D1ABC400-510E-B041-12C6-A98A0FFC8C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83990" y="3702563"/>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6748083"/>
      </p:ext>
    </p:extLst>
  </p:cSld>
  <p:clrMapOvr>
    <a:masterClrMapping/>
  </p:clrMapOvr>
  <p:transition>
    <p:fade/>
  </p:transition>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314</TotalTime>
  <Words>853</Words>
  <Application>Microsoft Office PowerPoint</Application>
  <PresentationFormat>Panorámica</PresentationFormat>
  <Paragraphs>52</Paragraphs>
  <Slides>9</Slides>
  <Notes>9</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9</vt:i4>
      </vt:variant>
    </vt:vector>
  </HeadingPairs>
  <TitlesOfParts>
    <vt:vector size="16" baseType="lpstr">
      <vt:lpstr>Aptos</vt:lpstr>
      <vt:lpstr>Arial</vt:lpstr>
      <vt:lpstr>Calibri</vt:lpstr>
      <vt:lpstr>Calisto MT</vt:lpstr>
      <vt:lpstr>Neue Haas Grotesk Text Pro</vt:lpstr>
      <vt:lpstr>Univers Condensed</vt:lpstr>
      <vt:lpstr>ChronicleVTI</vt:lpstr>
      <vt:lpstr>ESTRUCTURA DE DATOS</vt:lpstr>
      <vt:lpstr>Presentación de PowerPoint</vt:lpstr>
      <vt:lpstr>Introducción</vt:lpstr>
      <vt:lpstr>Justificación</vt:lpstr>
      <vt:lpstr>Presentación de PowerPoint</vt:lpstr>
      <vt:lpstr>Presentación de PowerPoint</vt:lpstr>
      <vt:lpstr>Presentación de PowerPoint</vt:lpstr>
      <vt:lpstr>CONCLUSIÒN</vt:lpstr>
      <vt:lpstr>Fuentes de información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DARVIN ROBLERO GONZALEZ</dc:creator>
  <cp:lastModifiedBy>DARVIN ROBLERO GONZALEZ</cp:lastModifiedBy>
  <cp:revision>8</cp:revision>
  <dcterms:created xsi:type="dcterms:W3CDTF">2025-05-05T03:25:16Z</dcterms:created>
  <dcterms:modified xsi:type="dcterms:W3CDTF">2025-11-26T07:27:28Z</dcterms:modified>
</cp:coreProperties>
</file>